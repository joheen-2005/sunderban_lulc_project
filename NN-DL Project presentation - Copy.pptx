
<file path=[Content_Types].xml><?xml version="1.0" encoding="utf-8"?>
<Types xmlns="http://schemas.openxmlformats.org/package/2006/content-types">
  <Default Extension="0" ContentType="image/jpeg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0"/>
  </p:notesMasterIdLst>
  <p:sldIdLst>
    <p:sldId id="256" r:id="rId3"/>
    <p:sldId id="257" r:id="rId4"/>
    <p:sldId id="258" r:id="rId5"/>
    <p:sldId id="261" r:id="rId6"/>
    <p:sldId id="262" r:id="rId7"/>
    <p:sldId id="267" r:id="rId8"/>
    <p:sldId id="268" r:id="rId9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1"/>
      <p:bold r:id="rId12"/>
      <p:italic r:id="rId13"/>
      <p:boldItalic r:id="rId14"/>
    </p:embeddedFont>
    <p:embeddedFont>
      <p:font typeface="Lucida Handwriting" panose="03010101010101010101" pitchFamily="66" charset="0"/>
      <p:regular r:id="rId15"/>
    </p:embeddedFont>
    <p:embeddedFont>
      <p:font typeface="Nunito" pitchFamily="2" charset="0"/>
      <p:regular r:id="rId16"/>
      <p:bold r:id="rId17"/>
      <p:italic r:id="rId18"/>
      <p:boldItalic r:id="rId19"/>
    </p:embeddedFont>
    <p:embeddedFont>
      <p:font typeface="Playfair Display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511e2447ac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511e2447ac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511e2447ac_2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2511e2447ac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511e2447ac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2511e2447ac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511e2447ac_2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511e2447ac_2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511e2447ac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2511e2447ac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511e2447ac_2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g2511e2447ac_2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511e2447ac_2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2511e2447ac_2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82685" y="3235080"/>
            <a:ext cx="1542830" cy="1908384"/>
            <a:chOff x="0" y="-38100"/>
            <a:chExt cx="812700" cy="1005259"/>
          </a:xfrm>
        </p:grpSpPr>
        <p:sp>
          <p:nvSpPr>
            <p:cNvPr id="14" name="Google Shape;14;p2"/>
            <p:cNvSpPr/>
            <p:nvPr/>
          </p:nvSpPr>
          <p:spPr>
            <a:xfrm>
              <a:off x="0" y="0"/>
              <a:ext cx="76913" cy="967159"/>
            </a:xfrm>
            <a:custGeom>
              <a:avLst/>
              <a:gdLst/>
              <a:ahLst/>
              <a:cxnLst/>
              <a:rect l="l" t="t" r="r" b="b"/>
              <a:pathLst>
                <a:path w="76913" h="967159" extrusionOk="0">
                  <a:moveTo>
                    <a:pt x="0" y="0"/>
                  </a:moveTo>
                  <a:lnTo>
                    <a:pt x="76913" y="0"/>
                  </a:lnTo>
                  <a:lnTo>
                    <a:pt x="76913" y="967159"/>
                  </a:lnTo>
                  <a:lnTo>
                    <a:pt x="0" y="967159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15" name="Google Shape;15;p2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8115300" y="-72329"/>
            <a:ext cx="1542830" cy="1908384"/>
            <a:chOff x="0" y="-38100"/>
            <a:chExt cx="812700" cy="1005259"/>
          </a:xfrm>
        </p:grpSpPr>
        <p:sp>
          <p:nvSpPr>
            <p:cNvPr id="17" name="Google Shape;17;p2"/>
            <p:cNvSpPr/>
            <p:nvPr/>
          </p:nvSpPr>
          <p:spPr>
            <a:xfrm>
              <a:off x="0" y="0"/>
              <a:ext cx="76913" cy="967159"/>
            </a:xfrm>
            <a:custGeom>
              <a:avLst/>
              <a:gdLst/>
              <a:ahLst/>
              <a:cxnLst/>
              <a:rect l="l" t="t" r="r" b="b"/>
              <a:pathLst>
                <a:path w="76913" h="967159" extrusionOk="0">
                  <a:moveTo>
                    <a:pt x="0" y="0"/>
                  </a:moveTo>
                  <a:lnTo>
                    <a:pt x="76913" y="0"/>
                  </a:lnTo>
                  <a:lnTo>
                    <a:pt x="76913" y="967159"/>
                  </a:lnTo>
                  <a:lnTo>
                    <a:pt x="0" y="967159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18" name="Google Shape;18;p2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 rot="5400000">
            <a:off x="7163001" y="3027843"/>
            <a:ext cx="1542830" cy="2510583"/>
            <a:chOff x="0" y="-38100"/>
            <a:chExt cx="812700" cy="1322473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81850" cy="1284373"/>
            </a:xfrm>
            <a:custGeom>
              <a:avLst/>
              <a:gdLst/>
              <a:ahLst/>
              <a:cxnLst/>
              <a:rect l="l" t="t" r="r" b="b"/>
              <a:pathLst>
                <a:path w="81850" h="1284373" extrusionOk="0">
                  <a:moveTo>
                    <a:pt x="0" y="0"/>
                  </a:moveTo>
                  <a:lnTo>
                    <a:pt x="81850" y="0"/>
                  </a:lnTo>
                  <a:lnTo>
                    <a:pt x="81850" y="1284373"/>
                  </a:lnTo>
                  <a:lnTo>
                    <a:pt x="0" y="1284373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24" name="Google Shape;24;p3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 rot="5400000">
            <a:off x="483924" y="341793"/>
            <a:ext cx="1542830" cy="2510583"/>
            <a:chOff x="0" y="-38100"/>
            <a:chExt cx="812700" cy="1322473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81850" cy="1284373"/>
            </a:xfrm>
            <a:custGeom>
              <a:avLst/>
              <a:gdLst/>
              <a:ahLst/>
              <a:cxnLst/>
              <a:rect l="l" t="t" r="r" b="b"/>
              <a:pathLst>
                <a:path w="81850" h="1284373" extrusionOk="0">
                  <a:moveTo>
                    <a:pt x="0" y="0"/>
                  </a:moveTo>
                  <a:lnTo>
                    <a:pt x="81850" y="0"/>
                  </a:lnTo>
                  <a:lnTo>
                    <a:pt x="81850" y="1284373"/>
                  </a:lnTo>
                  <a:lnTo>
                    <a:pt x="0" y="1284373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27" name="Google Shape;27;p3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158" y="4173925"/>
            <a:ext cx="9143934" cy="893183"/>
            <a:chOff x="0" y="-38100"/>
            <a:chExt cx="4424627" cy="1036175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4424627" cy="998075"/>
            </a:xfrm>
            <a:custGeom>
              <a:avLst/>
              <a:gdLst/>
              <a:ahLst/>
              <a:cxnLst/>
              <a:rect l="l" t="t" r="r" b="b"/>
              <a:pathLst>
                <a:path w="4424627" h="998075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998075"/>
                  </a:lnTo>
                  <a:lnTo>
                    <a:pt x="0" y="998075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34" name="Google Shape;34;p4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150" y="4939490"/>
            <a:ext cx="9143934" cy="1615159"/>
            <a:chOff x="0" y="-38100"/>
            <a:chExt cx="4424627" cy="850800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4424627" cy="60311"/>
            </a:xfrm>
            <a:custGeom>
              <a:avLst/>
              <a:gdLst/>
              <a:ahLst/>
              <a:cxnLst/>
              <a:rect l="l" t="t" r="r" b="b"/>
              <a:pathLst>
                <a:path w="4424627" h="60311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60311"/>
                  </a:lnTo>
                  <a:lnTo>
                    <a:pt x="0" y="60311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37" name="Google Shape;37;p4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 rot="5400000">
            <a:off x="6729537" y="3243994"/>
            <a:ext cx="1542830" cy="2402055"/>
            <a:chOff x="0" y="-38100"/>
            <a:chExt cx="812700" cy="1265305"/>
          </a:xfrm>
        </p:grpSpPr>
        <p:sp>
          <p:nvSpPr>
            <p:cNvPr id="44" name="Google Shape;44;p5"/>
            <p:cNvSpPr/>
            <p:nvPr/>
          </p:nvSpPr>
          <p:spPr>
            <a:xfrm>
              <a:off x="0" y="0"/>
              <a:ext cx="85782" cy="1227205"/>
            </a:xfrm>
            <a:custGeom>
              <a:avLst/>
              <a:gdLst/>
              <a:ahLst/>
              <a:cxnLst/>
              <a:rect l="l" t="t" r="r" b="b"/>
              <a:pathLst>
                <a:path w="85782" h="1227205" extrusionOk="0">
                  <a:moveTo>
                    <a:pt x="0" y="0"/>
                  </a:moveTo>
                  <a:lnTo>
                    <a:pt x="85782" y="0"/>
                  </a:lnTo>
                  <a:lnTo>
                    <a:pt x="85782" y="1227205"/>
                  </a:lnTo>
                  <a:lnTo>
                    <a:pt x="0" y="1227205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45" name="Google Shape;45;p5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5"/>
          <p:cNvGrpSpPr/>
          <p:nvPr/>
        </p:nvGrpSpPr>
        <p:grpSpPr>
          <a:xfrm rot="5400000">
            <a:off x="3837790" y="3243994"/>
            <a:ext cx="1542830" cy="2402055"/>
            <a:chOff x="0" y="-38100"/>
            <a:chExt cx="812700" cy="1265305"/>
          </a:xfrm>
        </p:grpSpPr>
        <p:sp>
          <p:nvSpPr>
            <p:cNvPr id="47" name="Google Shape;47;p5"/>
            <p:cNvSpPr/>
            <p:nvPr/>
          </p:nvSpPr>
          <p:spPr>
            <a:xfrm>
              <a:off x="0" y="0"/>
              <a:ext cx="85782" cy="1227205"/>
            </a:xfrm>
            <a:custGeom>
              <a:avLst/>
              <a:gdLst/>
              <a:ahLst/>
              <a:cxnLst/>
              <a:rect l="l" t="t" r="r" b="b"/>
              <a:pathLst>
                <a:path w="85782" h="1227205" extrusionOk="0">
                  <a:moveTo>
                    <a:pt x="0" y="0"/>
                  </a:moveTo>
                  <a:lnTo>
                    <a:pt x="85782" y="0"/>
                  </a:lnTo>
                  <a:lnTo>
                    <a:pt x="85782" y="1227205"/>
                  </a:lnTo>
                  <a:lnTo>
                    <a:pt x="0" y="1227205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48" name="Google Shape;48;p5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" name="Google Shape;49;p5"/>
          <p:cNvGrpSpPr/>
          <p:nvPr/>
        </p:nvGrpSpPr>
        <p:grpSpPr>
          <a:xfrm rot="5400000">
            <a:off x="946042" y="3243994"/>
            <a:ext cx="1542830" cy="2402055"/>
            <a:chOff x="0" y="-38100"/>
            <a:chExt cx="812700" cy="1265305"/>
          </a:xfrm>
        </p:grpSpPr>
        <p:sp>
          <p:nvSpPr>
            <p:cNvPr id="50" name="Google Shape;50;p5"/>
            <p:cNvSpPr/>
            <p:nvPr/>
          </p:nvSpPr>
          <p:spPr>
            <a:xfrm>
              <a:off x="0" y="0"/>
              <a:ext cx="85782" cy="1227205"/>
            </a:xfrm>
            <a:custGeom>
              <a:avLst/>
              <a:gdLst/>
              <a:ahLst/>
              <a:cxnLst/>
              <a:rect l="l" t="t" r="r" b="b"/>
              <a:pathLst>
                <a:path w="85782" h="1227205" extrusionOk="0">
                  <a:moveTo>
                    <a:pt x="0" y="0"/>
                  </a:moveTo>
                  <a:lnTo>
                    <a:pt x="85782" y="0"/>
                  </a:lnTo>
                  <a:lnTo>
                    <a:pt x="85782" y="1227205"/>
                  </a:lnTo>
                  <a:lnTo>
                    <a:pt x="0" y="1227205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51" name="Google Shape;51;p5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>
            <a:off x="38" y="252590"/>
            <a:ext cx="9143934" cy="1615159"/>
            <a:chOff x="0" y="-38100"/>
            <a:chExt cx="4424627" cy="850800"/>
          </a:xfrm>
        </p:grpSpPr>
        <p:sp>
          <p:nvSpPr>
            <p:cNvPr id="56" name="Google Shape;56;p6"/>
            <p:cNvSpPr/>
            <p:nvPr/>
          </p:nvSpPr>
          <p:spPr>
            <a:xfrm>
              <a:off x="0" y="0"/>
              <a:ext cx="4424627" cy="60311"/>
            </a:xfrm>
            <a:custGeom>
              <a:avLst/>
              <a:gdLst/>
              <a:ahLst/>
              <a:cxnLst/>
              <a:rect l="l" t="t" r="r" b="b"/>
              <a:pathLst>
                <a:path w="4424627" h="60311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60311"/>
                  </a:lnTo>
                  <a:lnTo>
                    <a:pt x="0" y="60311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57" name="Google Shape;57;p6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1" name="Google Shape;61;p7"/>
          <p:cNvGrpSpPr/>
          <p:nvPr/>
        </p:nvGrpSpPr>
        <p:grpSpPr>
          <a:xfrm>
            <a:off x="2" y="3556900"/>
            <a:ext cx="9277505" cy="1586591"/>
            <a:chOff x="0" y="-38100"/>
            <a:chExt cx="2080998" cy="1412186"/>
          </a:xfrm>
        </p:grpSpPr>
        <p:sp>
          <p:nvSpPr>
            <p:cNvPr id="62" name="Google Shape;62;p7"/>
            <p:cNvSpPr/>
            <p:nvPr/>
          </p:nvSpPr>
          <p:spPr>
            <a:xfrm>
              <a:off x="0" y="0"/>
              <a:ext cx="2080998" cy="1374086"/>
            </a:xfrm>
            <a:custGeom>
              <a:avLst/>
              <a:gdLst/>
              <a:ahLst/>
              <a:cxnLst/>
              <a:rect l="l" t="t" r="r" b="b"/>
              <a:pathLst>
                <a:path w="2080998" h="1374086" extrusionOk="0">
                  <a:moveTo>
                    <a:pt x="0" y="0"/>
                  </a:moveTo>
                  <a:lnTo>
                    <a:pt x="2080998" y="0"/>
                  </a:lnTo>
                  <a:lnTo>
                    <a:pt x="2080998" y="1374086"/>
                  </a:lnTo>
                  <a:lnTo>
                    <a:pt x="0" y="1374086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63" name="Google Shape;63;p7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64;p7"/>
          <p:cNvGrpSpPr/>
          <p:nvPr/>
        </p:nvGrpSpPr>
        <p:grpSpPr>
          <a:xfrm>
            <a:off x="-50212" y="3945475"/>
            <a:ext cx="9277505" cy="809451"/>
            <a:chOff x="0" y="-38100"/>
            <a:chExt cx="2080998" cy="850800"/>
          </a:xfrm>
        </p:grpSpPr>
        <p:sp>
          <p:nvSpPr>
            <p:cNvPr id="65" name="Google Shape;65;p7"/>
            <p:cNvSpPr/>
            <p:nvPr/>
          </p:nvSpPr>
          <p:spPr>
            <a:xfrm>
              <a:off x="0" y="0"/>
              <a:ext cx="2080998" cy="452242"/>
            </a:xfrm>
            <a:custGeom>
              <a:avLst/>
              <a:gdLst/>
              <a:ahLst/>
              <a:cxnLst/>
              <a:rect l="l" t="t" r="r" b="b"/>
              <a:pathLst>
                <a:path w="2080998" h="452242" extrusionOk="0">
                  <a:moveTo>
                    <a:pt x="0" y="0"/>
                  </a:moveTo>
                  <a:lnTo>
                    <a:pt x="2080998" y="0"/>
                  </a:lnTo>
                  <a:lnTo>
                    <a:pt x="2080998" y="452242"/>
                  </a:lnTo>
                  <a:lnTo>
                    <a:pt x="0" y="452242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66" name="Google Shape;66;p7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" name="Google Shape;67;p7"/>
          <p:cNvGrpSpPr/>
          <p:nvPr/>
        </p:nvGrpSpPr>
        <p:grpSpPr>
          <a:xfrm>
            <a:off x="38" y="252590"/>
            <a:ext cx="9143934" cy="1615159"/>
            <a:chOff x="0" y="-38100"/>
            <a:chExt cx="4424627" cy="850800"/>
          </a:xfrm>
        </p:grpSpPr>
        <p:sp>
          <p:nvSpPr>
            <p:cNvPr id="68" name="Google Shape;68;p7"/>
            <p:cNvSpPr/>
            <p:nvPr/>
          </p:nvSpPr>
          <p:spPr>
            <a:xfrm>
              <a:off x="0" y="0"/>
              <a:ext cx="4424627" cy="60311"/>
            </a:xfrm>
            <a:custGeom>
              <a:avLst/>
              <a:gdLst/>
              <a:ahLst/>
              <a:cxnLst/>
              <a:rect l="l" t="t" r="r" b="b"/>
              <a:pathLst>
                <a:path w="4424627" h="60311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60311"/>
                  </a:lnTo>
                  <a:lnTo>
                    <a:pt x="0" y="60311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69" name="Google Shape;69;p7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3" name="Google Shape;73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6" name="Google Shape;76;p8"/>
          <p:cNvGrpSpPr/>
          <p:nvPr/>
        </p:nvGrpSpPr>
        <p:grpSpPr>
          <a:xfrm>
            <a:off x="265500" y="3556900"/>
            <a:ext cx="3965134" cy="1586591"/>
            <a:chOff x="0" y="-38100"/>
            <a:chExt cx="2080998" cy="1412186"/>
          </a:xfrm>
        </p:grpSpPr>
        <p:sp>
          <p:nvSpPr>
            <p:cNvPr id="77" name="Google Shape;77;p8"/>
            <p:cNvSpPr/>
            <p:nvPr/>
          </p:nvSpPr>
          <p:spPr>
            <a:xfrm>
              <a:off x="0" y="0"/>
              <a:ext cx="2080998" cy="1374086"/>
            </a:xfrm>
            <a:custGeom>
              <a:avLst/>
              <a:gdLst/>
              <a:ahLst/>
              <a:cxnLst/>
              <a:rect l="l" t="t" r="r" b="b"/>
              <a:pathLst>
                <a:path w="2080998" h="1374086" extrusionOk="0">
                  <a:moveTo>
                    <a:pt x="0" y="0"/>
                  </a:moveTo>
                  <a:lnTo>
                    <a:pt x="2080998" y="0"/>
                  </a:lnTo>
                  <a:lnTo>
                    <a:pt x="2080998" y="1374086"/>
                  </a:lnTo>
                  <a:lnTo>
                    <a:pt x="0" y="1374086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78" name="Google Shape;78;p8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8"/>
          <p:cNvGrpSpPr/>
          <p:nvPr/>
        </p:nvGrpSpPr>
        <p:grpSpPr>
          <a:xfrm>
            <a:off x="1620625" y="4739424"/>
            <a:ext cx="7583365" cy="809451"/>
            <a:chOff x="0" y="-38100"/>
            <a:chExt cx="2080998" cy="850800"/>
          </a:xfrm>
        </p:grpSpPr>
        <p:sp>
          <p:nvSpPr>
            <p:cNvPr id="80" name="Google Shape;80;p8"/>
            <p:cNvSpPr/>
            <p:nvPr/>
          </p:nvSpPr>
          <p:spPr>
            <a:xfrm>
              <a:off x="0" y="0"/>
              <a:ext cx="2080998" cy="452242"/>
            </a:xfrm>
            <a:custGeom>
              <a:avLst/>
              <a:gdLst/>
              <a:ahLst/>
              <a:cxnLst/>
              <a:rect l="l" t="t" r="r" b="b"/>
              <a:pathLst>
                <a:path w="2080998" h="452242" extrusionOk="0">
                  <a:moveTo>
                    <a:pt x="0" y="0"/>
                  </a:moveTo>
                  <a:lnTo>
                    <a:pt x="2080998" y="0"/>
                  </a:lnTo>
                  <a:lnTo>
                    <a:pt x="2080998" y="452242"/>
                  </a:lnTo>
                  <a:lnTo>
                    <a:pt x="0" y="452242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81" name="Google Shape;81;p8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5" name="Google Shape;85;p9"/>
          <p:cNvGrpSpPr/>
          <p:nvPr/>
        </p:nvGrpSpPr>
        <p:grpSpPr>
          <a:xfrm>
            <a:off x="5136425" y="-72329"/>
            <a:ext cx="4007577" cy="5215727"/>
            <a:chOff x="0" y="-38100"/>
            <a:chExt cx="2111029" cy="2747433"/>
          </a:xfrm>
        </p:grpSpPr>
        <p:sp>
          <p:nvSpPr>
            <p:cNvPr id="86" name="Google Shape;86;p9"/>
            <p:cNvSpPr/>
            <p:nvPr/>
          </p:nvSpPr>
          <p:spPr>
            <a:xfrm>
              <a:off x="0" y="0"/>
              <a:ext cx="2111029" cy="2709333"/>
            </a:xfrm>
            <a:custGeom>
              <a:avLst/>
              <a:gdLst/>
              <a:ahLst/>
              <a:cxnLst/>
              <a:rect l="l" t="t" r="r" b="b"/>
              <a:pathLst>
                <a:path w="2111029" h="2709333" extrusionOk="0">
                  <a:moveTo>
                    <a:pt x="0" y="0"/>
                  </a:moveTo>
                  <a:lnTo>
                    <a:pt x="2111029" y="0"/>
                  </a:lnTo>
                  <a:lnTo>
                    <a:pt x="211102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87" name="Google Shape;87;p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9"/>
          <p:cNvGrpSpPr/>
          <p:nvPr/>
        </p:nvGrpSpPr>
        <p:grpSpPr>
          <a:xfrm>
            <a:off x="150" y="4939490"/>
            <a:ext cx="9143934" cy="1615159"/>
            <a:chOff x="0" y="-38100"/>
            <a:chExt cx="4424627" cy="850800"/>
          </a:xfrm>
        </p:grpSpPr>
        <p:sp>
          <p:nvSpPr>
            <p:cNvPr id="89" name="Google Shape;89;p9"/>
            <p:cNvSpPr/>
            <p:nvPr/>
          </p:nvSpPr>
          <p:spPr>
            <a:xfrm>
              <a:off x="0" y="0"/>
              <a:ext cx="4424627" cy="60311"/>
            </a:xfrm>
            <a:custGeom>
              <a:avLst/>
              <a:gdLst/>
              <a:ahLst/>
              <a:cxnLst/>
              <a:rect l="l" t="t" r="r" b="b"/>
              <a:pathLst>
                <a:path w="4424627" h="60311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60311"/>
                  </a:lnTo>
                  <a:lnTo>
                    <a:pt x="0" y="60311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90" name="Google Shape;90;p9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3" name="Google Shape;93;p10"/>
          <p:cNvGrpSpPr/>
          <p:nvPr/>
        </p:nvGrpSpPr>
        <p:grpSpPr>
          <a:xfrm>
            <a:off x="150" y="4579740"/>
            <a:ext cx="9143934" cy="1615159"/>
            <a:chOff x="0" y="-38100"/>
            <a:chExt cx="4424627" cy="850800"/>
          </a:xfrm>
        </p:grpSpPr>
        <p:sp>
          <p:nvSpPr>
            <p:cNvPr id="94" name="Google Shape;94;p10"/>
            <p:cNvSpPr/>
            <p:nvPr/>
          </p:nvSpPr>
          <p:spPr>
            <a:xfrm>
              <a:off x="0" y="0"/>
              <a:ext cx="4424627" cy="60311"/>
            </a:xfrm>
            <a:custGeom>
              <a:avLst/>
              <a:gdLst/>
              <a:ahLst/>
              <a:cxnLst/>
              <a:rect l="l" t="t" r="r" b="b"/>
              <a:pathLst>
                <a:path w="4424627" h="60311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60311"/>
                  </a:lnTo>
                  <a:lnTo>
                    <a:pt x="0" y="60311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95" name="Google Shape;95;p10"/>
            <p:cNvSpPr txBox="1"/>
            <p:nvPr/>
          </p:nvSpPr>
          <p:spPr>
            <a:xfrm>
              <a:off x="0" y="-38100"/>
              <a:ext cx="812700" cy="85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sz="28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>
                <a:solidFill>
                  <a:schemeClr val="dk2"/>
                </a:solidFill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0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s://blog.geographydirections.com/2021/07/05/four-ways-to-tackle-the-climate-and-biodiversity-crises-simultaneously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hyperlink" Target="https://upamanyu.in/works/2017/sunderban-201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pixabay.com/photos/pine-forest-pad-glade-misty-273826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www.flickr.com/photos/amioascension/3908778327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3"/>
          <p:cNvPicPr preferRelativeResize="0"/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840" b="7840"/>
          <a:stretch/>
        </p:blipFill>
        <p:spPr>
          <a:xfrm>
            <a:off x="7434" y="14868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3"/>
          <p:cNvGrpSpPr/>
          <p:nvPr/>
        </p:nvGrpSpPr>
        <p:grpSpPr>
          <a:xfrm>
            <a:off x="594731" y="706038"/>
            <a:ext cx="4033368" cy="3659094"/>
            <a:chOff x="-78704" y="-38100"/>
            <a:chExt cx="2124572" cy="1927424"/>
          </a:xfrm>
        </p:grpSpPr>
        <p:sp>
          <p:nvSpPr>
            <p:cNvPr id="177" name="Google Shape;177;p23"/>
            <p:cNvSpPr/>
            <p:nvPr/>
          </p:nvSpPr>
          <p:spPr>
            <a:xfrm>
              <a:off x="-78704" y="0"/>
              <a:ext cx="2124572" cy="1889324"/>
            </a:xfrm>
            <a:custGeom>
              <a:avLst/>
              <a:gdLst/>
              <a:ahLst/>
              <a:cxnLst/>
              <a:rect l="l" t="t" r="r" b="b"/>
              <a:pathLst>
                <a:path w="2045868" h="1889324" extrusionOk="0">
                  <a:moveTo>
                    <a:pt x="0" y="0"/>
                  </a:moveTo>
                  <a:lnTo>
                    <a:pt x="2045868" y="0"/>
                  </a:lnTo>
                  <a:lnTo>
                    <a:pt x="2045868" y="1889324"/>
                  </a:lnTo>
                  <a:lnTo>
                    <a:pt x="0" y="1889324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178" name="Google Shape;178;p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23"/>
          <p:cNvGrpSpPr/>
          <p:nvPr/>
        </p:nvGrpSpPr>
        <p:grpSpPr>
          <a:xfrm>
            <a:off x="594732" y="706038"/>
            <a:ext cx="4033305" cy="2753808"/>
            <a:chOff x="0" y="-38100"/>
            <a:chExt cx="2045868" cy="1450566"/>
          </a:xfrm>
        </p:grpSpPr>
        <p:sp>
          <p:nvSpPr>
            <p:cNvPr id="181" name="Google Shape;181;p23"/>
            <p:cNvSpPr/>
            <p:nvPr/>
          </p:nvSpPr>
          <p:spPr>
            <a:xfrm>
              <a:off x="0" y="0"/>
              <a:ext cx="2045868" cy="1412466"/>
            </a:xfrm>
            <a:custGeom>
              <a:avLst/>
              <a:gdLst/>
              <a:ahLst/>
              <a:cxnLst/>
              <a:rect l="l" t="t" r="r" b="b"/>
              <a:pathLst>
                <a:path w="2045868" h="1412466" extrusionOk="0">
                  <a:moveTo>
                    <a:pt x="0" y="0"/>
                  </a:moveTo>
                  <a:lnTo>
                    <a:pt x="2045868" y="0"/>
                  </a:lnTo>
                  <a:lnTo>
                    <a:pt x="2045868" y="1412466"/>
                  </a:lnTo>
                  <a:lnTo>
                    <a:pt x="0" y="1412466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182" name="Google Shape;182;p2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23"/>
          <p:cNvSpPr txBox="1"/>
          <p:nvPr/>
        </p:nvSpPr>
        <p:spPr>
          <a:xfrm>
            <a:off x="631927" y="1424135"/>
            <a:ext cx="38841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rgbClr val="FFFDFC"/>
                </a:solidFill>
                <a:latin typeface="Lucida Handwriting" panose="03010101010101010101" pitchFamily="66" charset="0"/>
                <a:ea typeface="Ebrima" panose="02000000000000000000" pitchFamily="2" charset="0"/>
                <a:cs typeface="Ebrima" panose="02000000000000000000" pitchFamily="2" charset="0"/>
                <a:sym typeface="Playfair Display"/>
              </a:rPr>
              <a:t>Coastal Change Detection of Henry and Lothian Island  Using Multi-Year LULC Analysis and K-Means Clustering</a:t>
            </a:r>
            <a:endParaRPr sz="2000" b="1" dirty="0">
              <a:latin typeface="Lucida Handwriting" panose="03010101010101010101" pitchFamily="66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028" name="Picture 4" descr="28,500+ Royal Bengal Tiger Stock Photos, Pictures &amp; Royalty-Free Images -  iStock">
            <a:extLst>
              <a:ext uri="{FF2B5EF4-FFF2-40B4-BE49-F238E27FC236}">
                <a16:creationId xmlns:a16="http://schemas.microsoft.com/office/drawing/2014/main" id="{A9C9FF61-D27F-725B-AF0B-52479A552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974" y="778368"/>
            <a:ext cx="4516026" cy="358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BF4C04-1F59-36AA-DCDD-794F0590FC87}"/>
              </a:ext>
            </a:extLst>
          </p:cNvPr>
          <p:cNvSpPr txBox="1"/>
          <p:nvPr/>
        </p:nvSpPr>
        <p:spPr>
          <a:xfrm>
            <a:off x="0" y="5143500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blog.geographydirections.com/2021/07/05/four-ways-to-tackle-the-climate-and-biodiversity-crises-simultaneously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-sa/3.0/"/>
              </a:rPr>
              <a:t>CC BY-SA</a:t>
            </a:r>
            <a:endParaRPr lang="en-IN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4"/>
          <p:cNvPicPr preferRelativeResize="0"/>
          <p:nvPr/>
        </p:nvPicPr>
        <p:blipFill rotWithShape="1">
          <a:blip r:embed="rId3">
            <a:alphaModFix/>
          </a:blip>
          <a:srcRect t="625" b="61874"/>
          <a:stretch/>
        </p:blipFill>
        <p:spPr>
          <a:xfrm>
            <a:off x="-17177" y="-7434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24"/>
          <p:cNvGrpSpPr/>
          <p:nvPr/>
        </p:nvGrpSpPr>
        <p:grpSpPr>
          <a:xfrm>
            <a:off x="372061" y="2583516"/>
            <a:ext cx="8399877" cy="1967114"/>
            <a:chOff x="0" y="-38100"/>
            <a:chExt cx="4424627" cy="1036175"/>
          </a:xfrm>
        </p:grpSpPr>
        <p:sp>
          <p:nvSpPr>
            <p:cNvPr id="191" name="Google Shape;191;p24"/>
            <p:cNvSpPr/>
            <p:nvPr/>
          </p:nvSpPr>
          <p:spPr>
            <a:xfrm>
              <a:off x="0" y="0"/>
              <a:ext cx="4424627" cy="998075"/>
            </a:xfrm>
            <a:custGeom>
              <a:avLst/>
              <a:gdLst/>
              <a:ahLst/>
              <a:cxnLst/>
              <a:rect l="l" t="t" r="r" b="b"/>
              <a:pathLst>
                <a:path w="4424627" h="998075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998075"/>
                  </a:lnTo>
                  <a:lnTo>
                    <a:pt x="0" y="998075"/>
                  </a:lnTo>
                  <a:close/>
                </a:path>
              </a:pathLst>
            </a:custGeom>
            <a:solidFill>
              <a:srgbClr val="8EA532"/>
            </a:solidFill>
            <a:ln>
              <a:noFill/>
            </a:ln>
          </p:spPr>
        </p:sp>
        <p:sp>
          <p:nvSpPr>
            <p:cNvPr id="192" name="Google Shape;192;p2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24"/>
          <p:cNvSpPr txBox="1"/>
          <p:nvPr/>
        </p:nvSpPr>
        <p:spPr>
          <a:xfrm>
            <a:off x="3084839" y="2773096"/>
            <a:ext cx="2539330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 algn="ctr">
              <a:lnSpc>
                <a:spcPct val="120006"/>
              </a:lnSpc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Georgia" panose="02040502050405020303" pitchFamily="18" charset="0"/>
              </a:rPr>
              <a:t>Identify spatial patterns, trends, and hotspots of coastal change using K-means clustering analysis.</a:t>
            </a:r>
          </a:p>
          <a:p>
            <a:pPr marL="171450" marR="0" lvl="0" indent="-17145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700" dirty="0"/>
          </a:p>
        </p:txBody>
      </p:sp>
      <p:sp>
        <p:nvSpPr>
          <p:cNvPr id="198" name="Google Shape;198;p24"/>
          <p:cNvSpPr txBox="1"/>
          <p:nvPr/>
        </p:nvSpPr>
        <p:spPr>
          <a:xfrm>
            <a:off x="5922918" y="2770342"/>
            <a:ext cx="2525846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 algn="ctr">
              <a:lnSpc>
                <a:spcPct val="120006"/>
              </a:lnSpc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bg1">
                    <a:lumMod val="95000"/>
                  </a:schemeClr>
                </a:solidFill>
                <a:latin typeface="Georgia" panose="02040502050405020303" pitchFamily="18" charset="0"/>
              </a:rPr>
              <a:t>Provide scientific insights to support conservation planning and adaptive management of vulnerable coastal ecosystems.</a:t>
            </a:r>
          </a:p>
          <a:p>
            <a:pPr marL="171450" marR="0" lvl="0" indent="-17145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700" dirty="0"/>
          </a:p>
        </p:txBody>
      </p:sp>
      <p:grpSp>
        <p:nvGrpSpPr>
          <p:cNvPr id="199" name="Google Shape;199;p24"/>
          <p:cNvGrpSpPr/>
          <p:nvPr/>
        </p:nvGrpSpPr>
        <p:grpSpPr>
          <a:xfrm>
            <a:off x="362318" y="2554244"/>
            <a:ext cx="8399878" cy="1968332"/>
            <a:chOff x="0" y="0"/>
            <a:chExt cx="4424627" cy="1036823"/>
          </a:xfrm>
        </p:grpSpPr>
        <p:sp>
          <p:nvSpPr>
            <p:cNvPr id="200" name="Google Shape;200;p24"/>
            <p:cNvSpPr/>
            <p:nvPr/>
          </p:nvSpPr>
          <p:spPr>
            <a:xfrm>
              <a:off x="0" y="0"/>
              <a:ext cx="4424627" cy="60311"/>
            </a:xfrm>
            <a:custGeom>
              <a:avLst/>
              <a:gdLst/>
              <a:ahLst/>
              <a:cxnLst/>
              <a:rect l="l" t="t" r="r" b="b"/>
              <a:pathLst>
                <a:path w="4424627" h="60311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60311"/>
                  </a:lnTo>
                  <a:lnTo>
                    <a:pt x="0" y="60311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201" name="Google Shape;201;p24"/>
            <p:cNvSpPr txBox="1"/>
            <p:nvPr/>
          </p:nvSpPr>
          <p:spPr>
            <a:xfrm>
              <a:off x="175364" y="185923"/>
              <a:ext cx="1019483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171450" indent="-171450" algn="ctr">
                <a:lnSpc>
                  <a:spcPct val="147722"/>
                </a:lnSpc>
                <a:buFont typeface="Wingdings" panose="05000000000000000000" pitchFamily="2" charset="2"/>
                <a:buChar char="Ø"/>
              </a:pPr>
              <a:r>
                <a:rPr lang="en-US" sz="1100" b="1" dirty="0">
                  <a:solidFill>
                    <a:schemeClr val="bg1">
                      <a:lumMod val="95000"/>
                    </a:schemeClr>
                  </a:solidFill>
                  <a:latin typeface="Georgia" panose="02040502050405020303" pitchFamily="18" charset="0"/>
                </a:rPr>
                <a:t>Detect and quantify land use/land cover (LULC) changes in Henry and Lothian Islands across multiple years using satellite imagery.</a:t>
              </a:r>
            </a:p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24"/>
          <p:cNvGrpSpPr/>
          <p:nvPr/>
        </p:nvGrpSpPr>
        <p:grpSpPr>
          <a:xfrm>
            <a:off x="362318" y="4453407"/>
            <a:ext cx="8399878" cy="1615371"/>
            <a:chOff x="0" y="-38100"/>
            <a:chExt cx="4424627" cy="850900"/>
          </a:xfrm>
        </p:grpSpPr>
        <p:sp>
          <p:nvSpPr>
            <p:cNvPr id="203" name="Google Shape;203;p24"/>
            <p:cNvSpPr/>
            <p:nvPr/>
          </p:nvSpPr>
          <p:spPr>
            <a:xfrm>
              <a:off x="0" y="0"/>
              <a:ext cx="4424627" cy="60311"/>
            </a:xfrm>
            <a:custGeom>
              <a:avLst/>
              <a:gdLst/>
              <a:ahLst/>
              <a:cxnLst/>
              <a:rect l="l" t="t" r="r" b="b"/>
              <a:pathLst>
                <a:path w="4424627" h="60311" extrusionOk="0">
                  <a:moveTo>
                    <a:pt x="0" y="0"/>
                  </a:moveTo>
                  <a:lnTo>
                    <a:pt x="4424627" y="0"/>
                  </a:lnTo>
                  <a:lnTo>
                    <a:pt x="4424627" y="60311"/>
                  </a:lnTo>
                  <a:lnTo>
                    <a:pt x="0" y="60311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204" name="Google Shape;204;p2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24"/>
          <p:cNvSpPr txBox="1"/>
          <p:nvPr/>
        </p:nvSpPr>
        <p:spPr>
          <a:xfrm>
            <a:off x="621922" y="1056770"/>
            <a:ext cx="7684395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strike="noStrike" cap="none" dirty="0">
                <a:solidFill>
                  <a:srgbClr val="FFFDFC"/>
                </a:solidFill>
                <a:latin typeface="Lucida Handwriting" panose="03010101010101010101" pitchFamily="66" charset="0"/>
                <a:ea typeface="Playfair Display"/>
                <a:cs typeface="Playfair Display"/>
                <a:sym typeface="Playfair Display"/>
              </a:rPr>
              <a:t>Objectives</a:t>
            </a:r>
            <a:endParaRPr sz="2800" b="1" dirty="0"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/>
        </p:nvSpPr>
        <p:spPr>
          <a:xfrm>
            <a:off x="493696" y="302440"/>
            <a:ext cx="32463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2400" b="1" dirty="0">
                <a:solidFill>
                  <a:schemeClr val="bg1"/>
                </a:solidFill>
                <a:latin typeface="Lucida Handwriting" panose="03010101010101010101" pitchFamily="66" charset="0"/>
              </a:rPr>
              <a:t>Methodology</a:t>
            </a:r>
            <a:endParaRPr sz="2400" b="1" dirty="0">
              <a:solidFill>
                <a:schemeClr val="bg1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215" name="Google Shape;215;p25"/>
          <p:cNvGrpSpPr/>
          <p:nvPr/>
        </p:nvGrpSpPr>
        <p:grpSpPr>
          <a:xfrm>
            <a:off x="40765" y="1388736"/>
            <a:ext cx="354958" cy="579379"/>
            <a:chOff x="0" y="-38100"/>
            <a:chExt cx="812800" cy="850900"/>
          </a:xfrm>
        </p:grpSpPr>
        <p:sp>
          <p:nvSpPr>
            <p:cNvPr id="216" name="Google Shape;216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217" name="Google Shape;217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25"/>
          <p:cNvGrpSpPr/>
          <p:nvPr/>
        </p:nvGrpSpPr>
        <p:grpSpPr>
          <a:xfrm>
            <a:off x="40765" y="2135496"/>
            <a:ext cx="354958" cy="509728"/>
            <a:chOff x="0" y="-38100"/>
            <a:chExt cx="812800" cy="850900"/>
          </a:xfrm>
        </p:grpSpPr>
        <p:sp>
          <p:nvSpPr>
            <p:cNvPr id="219" name="Google Shape;219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220" name="Google Shape;220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25"/>
          <p:cNvGrpSpPr/>
          <p:nvPr/>
        </p:nvGrpSpPr>
        <p:grpSpPr>
          <a:xfrm>
            <a:off x="395723" y="1394674"/>
            <a:ext cx="4149808" cy="558831"/>
            <a:chOff x="0" y="-38100"/>
            <a:chExt cx="6522598" cy="850900"/>
          </a:xfrm>
        </p:grpSpPr>
        <p:sp>
          <p:nvSpPr>
            <p:cNvPr id="222" name="Google Shape;222;p25"/>
            <p:cNvSpPr/>
            <p:nvPr/>
          </p:nvSpPr>
          <p:spPr>
            <a:xfrm>
              <a:off x="0" y="0"/>
              <a:ext cx="6522598" cy="812800"/>
            </a:xfrm>
            <a:custGeom>
              <a:avLst/>
              <a:gdLst/>
              <a:ahLst/>
              <a:cxnLst/>
              <a:rect l="l" t="t" r="r" b="b"/>
              <a:pathLst>
                <a:path w="6522598" h="812800" extrusionOk="0">
                  <a:moveTo>
                    <a:pt x="0" y="0"/>
                  </a:moveTo>
                  <a:lnTo>
                    <a:pt x="6522598" y="0"/>
                  </a:lnTo>
                  <a:lnTo>
                    <a:pt x="652259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223" name="Google Shape;223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25"/>
          <p:cNvGrpSpPr/>
          <p:nvPr/>
        </p:nvGrpSpPr>
        <p:grpSpPr>
          <a:xfrm>
            <a:off x="401409" y="2134388"/>
            <a:ext cx="4149808" cy="494197"/>
            <a:chOff x="0" y="-38100"/>
            <a:chExt cx="6522598" cy="850900"/>
          </a:xfrm>
        </p:grpSpPr>
        <p:sp>
          <p:nvSpPr>
            <p:cNvPr id="225" name="Google Shape;225;p25"/>
            <p:cNvSpPr/>
            <p:nvPr/>
          </p:nvSpPr>
          <p:spPr>
            <a:xfrm>
              <a:off x="0" y="0"/>
              <a:ext cx="6522598" cy="812800"/>
            </a:xfrm>
            <a:custGeom>
              <a:avLst/>
              <a:gdLst/>
              <a:ahLst/>
              <a:cxnLst/>
              <a:rect l="l" t="t" r="r" b="b"/>
              <a:pathLst>
                <a:path w="6522598" h="812800" extrusionOk="0">
                  <a:moveTo>
                    <a:pt x="0" y="0"/>
                  </a:moveTo>
                  <a:lnTo>
                    <a:pt x="6522598" y="0"/>
                  </a:lnTo>
                  <a:lnTo>
                    <a:pt x="652259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226" name="Google Shape;226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25"/>
          <p:cNvSpPr txBox="1"/>
          <p:nvPr/>
        </p:nvSpPr>
        <p:spPr>
          <a:xfrm>
            <a:off x="445069" y="1453455"/>
            <a:ext cx="4094526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Selected the region of interest in the </a:t>
            </a:r>
            <a:r>
              <a:rPr lang="en-US" sz="1200" b="1" dirty="0" err="1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Sunderban</a:t>
            </a:r>
            <a:r>
              <a:rPr lang="en-US" sz="12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 area, focusing on Lothian and Henry Islands.</a:t>
            </a:r>
          </a:p>
          <a:p>
            <a:br>
              <a:rPr lang="en-US" sz="1000" b="1" dirty="0">
                <a:solidFill>
                  <a:schemeClr val="bg1"/>
                </a:solidFill>
              </a:rPr>
            </a:br>
            <a:endParaRPr sz="1000" b="1" dirty="0">
              <a:solidFill>
                <a:schemeClr val="bg1"/>
              </a:solidFill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451005" y="2222355"/>
            <a:ext cx="4094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Classified four land use/land cover features for each year from 2014 to 2023.</a:t>
            </a:r>
          </a:p>
        </p:txBody>
      </p:sp>
      <p:sp>
        <p:nvSpPr>
          <p:cNvPr id="229" name="Google Shape;229;p25"/>
          <p:cNvSpPr txBox="1"/>
          <p:nvPr/>
        </p:nvSpPr>
        <p:spPr>
          <a:xfrm>
            <a:off x="151251" y="1521686"/>
            <a:ext cx="3308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rgbClr val="FFFDFC"/>
                </a:solidFill>
                <a:latin typeface="Nunito"/>
                <a:ea typeface="Nunito"/>
                <a:cs typeface="Nunito"/>
                <a:sym typeface="Nunito"/>
              </a:rPr>
              <a:t>1.</a:t>
            </a:r>
            <a:endParaRPr sz="700" dirty="0"/>
          </a:p>
        </p:txBody>
      </p:sp>
      <p:sp>
        <p:nvSpPr>
          <p:cNvPr id="230" name="Google Shape;230;p25"/>
          <p:cNvSpPr txBox="1"/>
          <p:nvPr/>
        </p:nvSpPr>
        <p:spPr>
          <a:xfrm>
            <a:off x="171394" y="2187666"/>
            <a:ext cx="3308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rgbClr val="FFFDFC"/>
                </a:solidFill>
                <a:latin typeface="Nunito"/>
                <a:ea typeface="Nunito"/>
                <a:cs typeface="Nunito"/>
                <a:sym typeface="Nunito"/>
              </a:rPr>
              <a:t>2.</a:t>
            </a:r>
            <a:endParaRPr sz="700" dirty="0"/>
          </a:p>
        </p:txBody>
      </p:sp>
      <p:grpSp>
        <p:nvGrpSpPr>
          <p:cNvPr id="231" name="Google Shape;231;p25"/>
          <p:cNvGrpSpPr/>
          <p:nvPr/>
        </p:nvGrpSpPr>
        <p:grpSpPr>
          <a:xfrm>
            <a:off x="32160" y="2749481"/>
            <a:ext cx="354958" cy="482229"/>
            <a:chOff x="0" y="-38100"/>
            <a:chExt cx="812800" cy="850900"/>
          </a:xfrm>
        </p:grpSpPr>
        <p:sp>
          <p:nvSpPr>
            <p:cNvPr id="232" name="Google Shape;232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233" name="Google Shape;233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25"/>
          <p:cNvGrpSpPr/>
          <p:nvPr/>
        </p:nvGrpSpPr>
        <p:grpSpPr>
          <a:xfrm>
            <a:off x="387201" y="2743002"/>
            <a:ext cx="4149808" cy="472069"/>
            <a:chOff x="0" y="-38100"/>
            <a:chExt cx="6522598" cy="850900"/>
          </a:xfrm>
        </p:grpSpPr>
        <p:sp>
          <p:nvSpPr>
            <p:cNvPr id="235" name="Google Shape;235;p25"/>
            <p:cNvSpPr/>
            <p:nvPr/>
          </p:nvSpPr>
          <p:spPr>
            <a:xfrm>
              <a:off x="0" y="0"/>
              <a:ext cx="6522598" cy="812800"/>
            </a:xfrm>
            <a:custGeom>
              <a:avLst/>
              <a:gdLst/>
              <a:ahLst/>
              <a:cxnLst/>
              <a:rect l="l" t="t" r="r" b="b"/>
              <a:pathLst>
                <a:path w="6522598" h="812800" extrusionOk="0">
                  <a:moveTo>
                    <a:pt x="0" y="0"/>
                  </a:moveTo>
                  <a:lnTo>
                    <a:pt x="6522598" y="0"/>
                  </a:lnTo>
                  <a:lnTo>
                    <a:pt x="652259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236" name="Google Shape;236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25"/>
          <p:cNvSpPr txBox="1"/>
          <p:nvPr/>
        </p:nvSpPr>
        <p:spPr>
          <a:xfrm>
            <a:off x="450870" y="2766002"/>
            <a:ext cx="40861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Separated out the Lothian and Henry Islands from the full region to create 10 yearly images.</a:t>
            </a:r>
          </a:p>
        </p:txBody>
      </p:sp>
      <p:sp>
        <p:nvSpPr>
          <p:cNvPr id="238" name="Google Shape;238;p25"/>
          <p:cNvSpPr txBox="1"/>
          <p:nvPr/>
        </p:nvSpPr>
        <p:spPr>
          <a:xfrm>
            <a:off x="162872" y="2769876"/>
            <a:ext cx="3308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rgbClr val="FFFDFC"/>
                </a:solidFill>
                <a:latin typeface="Nunito"/>
                <a:ea typeface="Nunito"/>
                <a:cs typeface="Nunito"/>
                <a:sym typeface="Nunito"/>
              </a:rPr>
              <a:t>3.</a:t>
            </a:r>
            <a:endParaRPr sz="700" dirty="0"/>
          </a:p>
        </p:txBody>
      </p:sp>
      <p:grpSp>
        <p:nvGrpSpPr>
          <p:cNvPr id="239" name="Google Shape;239;p25"/>
          <p:cNvGrpSpPr/>
          <p:nvPr/>
        </p:nvGrpSpPr>
        <p:grpSpPr>
          <a:xfrm>
            <a:off x="32160" y="3486178"/>
            <a:ext cx="354958" cy="482229"/>
            <a:chOff x="0" y="-38100"/>
            <a:chExt cx="812800" cy="850900"/>
          </a:xfrm>
        </p:grpSpPr>
        <p:sp>
          <p:nvSpPr>
            <p:cNvPr id="240" name="Google Shape;240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241" name="Google Shape;241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25"/>
          <p:cNvGrpSpPr/>
          <p:nvPr/>
        </p:nvGrpSpPr>
        <p:grpSpPr>
          <a:xfrm>
            <a:off x="392887" y="3486178"/>
            <a:ext cx="4144122" cy="472069"/>
            <a:chOff x="0" y="-38100"/>
            <a:chExt cx="6522598" cy="850900"/>
          </a:xfrm>
        </p:grpSpPr>
        <p:sp>
          <p:nvSpPr>
            <p:cNvPr id="243" name="Google Shape;243;p25"/>
            <p:cNvSpPr/>
            <p:nvPr/>
          </p:nvSpPr>
          <p:spPr>
            <a:xfrm>
              <a:off x="0" y="0"/>
              <a:ext cx="6522598" cy="812800"/>
            </a:xfrm>
            <a:custGeom>
              <a:avLst/>
              <a:gdLst/>
              <a:ahLst/>
              <a:cxnLst/>
              <a:rect l="l" t="t" r="r" b="b"/>
              <a:pathLst>
                <a:path w="6522598" h="812800" extrusionOk="0">
                  <a:moveTo>
                    <a:pt x="0" y="0"/>
                  </a:moveTo>
                  <a:lnTo>
                    <a:pt x="6522598" y="0"/>
                  </a:lnTo>
                  <a:lnTo>
                    <a:pt x="652259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244" name="Google Shape;244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25"/>
          <p:cNvSpPr txBox="1"/>
          <p:nvPr/>
        </p:nvSpPr>
        <p:spPr>
          <a:xfrm>
            <a:off x="448168" y="3527404"/>
            <a:ext cx="42427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Used these 10 images as input for a change detection algorithm to analyze patterns and trends over time.</a:t>
            </a:r>
          </a:p>
        </p:txBody>
      </p:sp>
      <p:sp>
        <p:nvSpPr>
          <p:cNvPr id="246" name="Google Shape;246;p25"/>
          <p:cNvSpPr txBox="1"/>
          <p:nvPr/>
        </p:nvSpPr>
        <p:spPr>
          <a:xfrm>
            <a:off x="162871" y="3551068"/>
            <a:ext cx="3308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rgbClr val="FFFDFC"/>
                </a:solidFill>
                <a:latin typeface="Nunito"/>
                <a:ea typeface="Nunito"/>
                <a:cs typeface="Nunito"/>
                <a:sym typeface="Nunito"/>
              </a:rPr>
              <a:t>4.</a:t>
            </a:r>
            <a:endParaRPr sz="700" dirty="0"/>
          </a:p>
        </p:txBody>
      </p:sp>
      <p:grpSp>
        <p:nvGrpSpPr>
          <p:cNvPr id="247" name="Google Shape;247;p25"/>
          <p:cNvGrpSpPr/>
          <p:nvPr/>
        </p:nvGrpSpPr>
        <p:grpSpPr>
          <a:xfrm>
            <a:off x="32160" y="4036992"/>
            <a:ext cx="354958" cy="495352"/>
            <a:chOff x="0" y="-38100"/>
            <a:chExt cx="812800" cy="850900"/>
          </a:xfrm>
        </p:grpSpPr>
        <p:sp>
          <p:nvSpPr>
            <p:cNvPr id="248" name="Google Shape;248;p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25D36"/>
            </a:solidFill>
            <a:ln>
              <a:noFill/>
            </a:ln>
          </p:spPr>
        </p:sp>
        <p:sp>
          <p:nvSpPr>
            <p:cNvPr id="249" name="Google Shape;249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25"/>
          <p:cNvGrpSpPr/>
          <p:nvPr/>
        </p:nvGrpSpPr>
        <p:grpSpPr>
          <a:xfrm>
            <a:off x="392887" y="4043554"/>
            <a:ext cx="4677200" cy="482229"/>
            <a:chOff x="0" y="-38100"/>
            <a:chExt cx="6522598" cy="850900"/>
          </a:xfrm>
        </p:grpSpPr>
        <p:sp>
          <p:nvSpPr>
            <p:cNvPr id="251" name="Google Shape;251;p25"/>
            <p:cNvSpPr/>
            <p:nvPr/>
          </p:nvSpPr>
          <p:spPr>
            <a:xfrm>
              <a:off x="0" y="0"/>
              <a:ext cx="6522598" cy="812800"/>
            </a:xfrm>
            <a:custGeom>
              <a:avLst/>
              <a:gdLst/>
              <a:ahLst/>
              <a:cxnLst/>
              <a:rect l="l" t="t" r="r" b="b"/>
              <a:pathLst>
                <a:path w="6522598" h="812800" extrusionOk="0">
                  <a:moveTo>
                    <a:pt x="0" y="0"/>
                  </a:moveTo>
                  <a:lnTo>
                    <a:pt x="6522598" y="0"/>
                  </a:lnTo>
                  <a:lnTo>
                    <a:pt x="652259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02A"/>
            </a:solidFill>
            <a:ln>
              <a:noFill/>
            </a:ln>
          </p:spPr>
        </p:sp>
        <p:sp>
          <p:nvSpPr>
            <p:cNvPr id="252" name="Google Shape;252;p2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25"/>
          <p:cNvSpPr txBox="1"/>
          <p:nvPr/>
        </p:nvSpPr>
        <p:spPr>
          <a:xfrm>
            <a:off x="448168" y="4078609"/>
            <a:ext cx="4621919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1200" b="1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Collected and summarized the outputs to understand how the islands have changed and to help in future planning</a:t>
            </a:r>
            <a:endParaRPr sz="1200" b="1" dirty="0">
              <a:solidFill>
                <a:schemeClr val="accent3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162871" y="4107908"/>
            <a:ext cx="3308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>
                <a:solidFill>
                  <a:srgbClr val="FFFDFC"/>
                </a:solidFill>
                <a:latin typeface="Nunito"/>
                <a:ea typeface="Nunito"/>
                <a:cs typeface="Nunito"/>
                <a:sym typeface="Nunito"/>
              </a:rPr>
              <a:t>5.</a:t>
            </a:r>
            <a:endParaRPr sz="7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445A90-5BF7-6623-D2BC-F71501B89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101" y="551470"/>
            <a:ext cx="1737333" cy="18393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15F245-99B0-29ED-2A8A-FF5B46269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101" y="2835054"/>
            <a:ext cx="1737333" cy="195253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/>
          <p:nvPr/>
        </p:nvSpPr>
        <p:spPr>
          <a:xfrm>
            <a:off x="4980876" y="-72330"/>
            <a:ext cx="1543050" cy="161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 txBox="1"/>
          <p:nvPr/>
        </p:nvSpPr>
        <p:spPr>
          <a:xfrm>
            <a:off x="3629259" y="71968"/>
            <a:ext cx="31983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rgbClr val="FFFDFC"/>
                </a:solidFill>
                <a:latin typeface="Lucida Handwriting" panose="03010101010101010101" pitchFamily="66" charset="0"/>
                <a:ea typeface="Playfair Display"/>
                <a:cs typeface="Playfair Display"/>
                <a:sym typeface="Playfair Display"/>
              </a:rPr>
              <a:t>Results</a:t>
            </a:r>
            <a:endParaRPr sz="2800" b="1" dirty="0">
              <a:latin typeface="Lucida Handwriting" panose="03010101010101010101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3B0D1C-2CE2-43E9-EAE8-49D7B8E27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0" y="641795"/>
            <a:ext cx="2832880" cy="4272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07E27C-E08A-688D-4A5D-0CBE91905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0567" y="647153"/>
            <a:ext cx="5917580" cy="42668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0FBF6C-10F8-029D-636E-EEDA47F88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278" y="929268"/>
            <a:ext cx="2817541" cy="3642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A7AD8B-FA2C-CB38-BB4D-9850A0D46F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18" y="929268"/>
            <a:ext cx="5200266" cy="3642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4"/>
          <p:cNvPicPr preferRelativeResize="0"/>
          <p:nvPr/>
        </p:nvPicPr>
        <p:blipFill rotWithShape="1">
          <a:blip r:embed="rId3">
            <a:alphaModFix/>
          </a:blip>
          <a:srcRect t="12500" b="1250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4"/>
          <p:cNvSpPr/>
          <p:nvPr/>
        </p:nvSpPr>
        <p:spPr>
          <a:xfrm>
            <a:off x="714327" y="1112521"/>
            <a:ext cx="6166533" cy="693420"/>
          </a:xfrm>
          <a:prstGeom prst="rect">
            <a:avLst/>
          </a:prstGeom>
          <a:solidFill>
            <a:srgbClr val="8EA5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Georgia" panose="02040502050405020303" pitchFamily="18" charset="0"/>
              </a:rPr>
              <a:t>Using 10 years of images helped spot important trends and sudden changes after major events like cyclones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sz="1100" dirty="0">
              <a:latin typeface="Georgia" panose="02040502050405020303" pitchFamily="18" charset="0"/>
            </a:endParaRPr>
          </a:p>
        </p:txBody>
      </p:sp>
      <p:sp>
        <p:nvSpPr>
          <p:cNvPr id="402" name="Google Shape;402;p34"/>
          <p:cNvSpPr txBox="1"/>
          <p:nvPr/>
        </p:nvSpPr>
        <p:spPr>
          <a:xfrm>
            <a:off x="-755703" y="455218"/>
            <a:ext cx="5069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FFDFC"/>
                </a:solidFill>
                <a:latin typeface="Lucida Handwriting" panose="03010101010101010101" pitchFamily="66" charset="0"/>
                <a:sym typeface="Playfair Display"/>
              </a:rPr>
              <a:t>Conclusion</a:t>
            </a:r>
            <a:endParaRPr sz="2800" dirty="0">
              <a:latin typeface="Lucida Handwriting" panose="03010101010101010101" pitchFamily="66" charset="0"/>
            </a:endParaRPr>
          </a:p>
        </p:txBody>
      </p:sp>
      <p:sp>
        <p:nvSpPr>
          <p:cNvPr id="2" name="Google Shape;400;p34">
            <a:extLst>
              <a:ext uri="{FF2B5EF4-FFF2-40B4-BE49-F238E27FC236}">
                <a16:creationId xmlns:a16="http://schemas.microsoft.com/office/drawing/2014/main" id="{5529294B-F172-B04F-52A1-5FB0E93F5026}"/>
              </a:ext>
            </a:extLst>
          </p:cNvPr>
          <p:cNvSpPr/>
          <p:nvPr/>
        </p:nvSpPr>
        <p:spPr>
          <a:xfrm>
            <a:off x="714327" y="2032357"/>
            <a:ext cx="6166533" cy="693420"/>
          </a:xfrm>
          <a:prstGeom prst="rect">
            <a:avLst/>
          </a:prstGeom>
          <a:solidFill>
            <a:srgbClr val="8EA5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Georgia" panose="02040502050405020303" pitchFamily="18" charset="0"/>
              </a:rPr>
              <a:t>Separating and analyzing each year gave a clearer view of which places were most dynamic or stable.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3" name="Google Shape;400;p34">
            <a:extLst>
              <a:ext uri="{FF2B5EF4-FFF2-40B4-BE49-F238E27FC236}">
                <a16:creationId xmlns:a16="http://schemas.microsoft.com/office/drawing/2014/main" id="{2673BEF1-0E8B-44FC-0E80-236D47B83B87}"/>
              </a:ext>
            </a:extLst>
          </p:cNvPr>
          <p:cNvSpPr/>
          <p:nvPr/>
        </p:nvSpPr>
        <p:spPr>
          <a:xfrm>
            <a:off x="714325" y="2946758"/>
            <a:ext cx="6166533" cy="901342"/>
          </a:xfrm>
          <a:prstGeom prst="rect">
            <a:avLst/>
          </a:prstGeom>
          <a:solidFill>
            <a:srgbClr val="8EA5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Georgia" panose="02040502050405020303" pitchFamily="18" charset="0"/>
              </a:rPr>
              <a:t>This analysis supports better planning, conservation, and management strategies to protect these vulnerable islands in the future.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4" name="Google Shape;400;p34">
            <a:extLst>
              <a:ext uri="{FF2B5EF4-FFF2-40B4-BE49-F238E27FC236}">
                <a16:creationId xmlns:a16="http://schemas.microsoft.com/office/drawing/2014/main" id="{00A89E46-6F3B-7838-8558-752BA0DC40C0}"/>
              </a:ext>
            </a:extLst>
          </p:cNvPr>
          <p:cNvSpPr/>
          <p:nvPr/>
        </p:nvSpPr>
        <p:spPr>
          <a:xfrm>
            <a:off x="714325" y="4103884"/>
            <a:ext cx="6166533" cy="682546"/>
          </a:xfrm>
          <a:prstGeom prst="rect">
            <a:avLst/>
          </a:prstGeom>
          <a:solidFill>
            <a:srgbClr val="8EA53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Georgia" panose="02040502050405020303" pitchFamily="18" charset="0"/>
              </a:rPr>
              <a:t>This project approach can be used for monitoring other sensitive coastal regions as well.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b="1" dirty="0">
              <a:solidFill>
                <a:schemeClr val="accent3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B173E-3D61-5639-3C61-2DDA64420C50}"/>
              </a:ext>
            </a:extLst>
          </p:cNvPr>
          <p:cNvSpPr txBox="1"/>
          <p:nvPr/>
        </p:nvSpPr>
        <p:spPr>
          <a:xfrm>
            <a:off x="2676293" y="2156251"/>
            <a:ext cx="45348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FFEFD"/>
      </a:dk1>
      <a:lt1>
        <a:srgbClr val="225D36"/>
      </a:lt1>
      <a:dk2>
        <a:srgbClr val="FFFEFD"/>
      </a:dk2>
      <a:lt2>
        <a:srgbClr val="8EA532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255</Words>
  <Application>Microsoft Office PowerPoint</Application>
  <PresentationFormat>On-screen Show (16:9)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Nunito</vt:lpstr>
      <vt:lpstr>Arial</vt:lpstr>
      <vt:lpstr>Lucida Handwriting</vt:lpstr>
      <vt:lpstr>Calibri</vt:lpstr>
      <vt:lpstr>Georgia</vt:lpstr>
      <vt:lpstr>Playfair Display</vt:lpstr>
      <vt:lpstr>Wingdings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Joheen Kundu</cp:lastModifiedBy>
  <cp:revision>13</cp:revision>
  <dcterms:modified xsi:type="dcterms:W3CDTF">2025-10-30T20:55:48Z</dcterms:modified>
</cp:coreProperties>
</file>